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Manrope SemiBold"/>
      <p:regular r:id="rId18"/>
      <p:bold r:id="rId19"/>
    </p:embeddedFont>
    <p:embeddedFont>
      <p:font typeface="Manrope"/>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nrope-regular.fntdata"/><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Manrope-bold.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ManropeSemiBold-bold.fntdata"/><Relationship Id="rId6" Type="http://schemas.openxmlformats.org/officeDocument/2006/relationships/notesMaster" Target="notesMasters/notesMaster1.xml"/><Relationship Id="rId18" Type="http://schemas.openxmlformats.org/officeDocument/2006/relationships/font" Target="fonts/ManropeSemiBold-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b421522c5_2_4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3bb421522c5_2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b421522c5_2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3bb421522c5_2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b421522c5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3bb421522c5_2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bb421522c5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bb421522c5_2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b421522c5_2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bb421522c5_2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bb421522c5_2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bb421522c5_2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bb421522c5_2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g3bb421522c5_2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bb421522c5_2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g3bb421522c5_2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b421522c5_2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3bb421522c5_2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bb421522c5_2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g3bb421522c5_2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bb421522c5_2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bb421522c5_2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8" name="Google Shape;58;p1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9" name="Google Shape;5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2" name="Google Shape;6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 name="Google Shape;65;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6" name="Google Shape;6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0" name="Google Shape;70;p1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1" name="Google Shape;7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 name="Google Shape;7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sp>
        <p:nvSpPr>
          <p:cNvPr id="76" name="Google Shape;76;p2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7" name="Google Shape;77;p2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8" name="Google Shape;7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2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1" name="Google Shape;8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5" name="Google Shape;85;p2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6" name="Google Shape;86;p2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7" name="Google Shape;8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0" name="Google Shape;9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2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3" name="Google Shape;93;p2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25" title="Artscfghgboard – 5.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00" name="Google Shape;100;p25"/>
          <p:cNvSpPr txBox="1"/>
          <p:nvPr/>
        </p:nvSpPr>
        <p:spPr>
          <a:xfrm>
            <a:off x="383675" y="3446998"/>
            <a:ext cx="8520600" cy="44370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Clr>
                <a:srgbClr val="000000"/>
              </a:buClr>
              <a:buSzPts val="1600"/>
              <a:buFont typeface="Arial"/>
              <a:buNone/>
            </a:pPr>
            <a:r>
              <a:rPr b="0" i="0" lang="en" sz="1600" u="none" cap="none" strike="noStrike">
                <a:solidFill>
                  <a:srgbClr val="202729"/>
                </a:solidFill>
                <a:latin typeface="Manrope SemiBold"/>
                <a:ea typeface="Manrope SemiBold"/>
                <a:cs typeface="Manrope SemiBold"/>
                <a:sym typeface="Manrope SemiBold"/>
              </a:rPr>
              <a:t>Team Name : </a:t>
            </a:r>
            <a:r>
              <a:rPr lang="en" sz="1600">
                <a:solidFill>
                  <a:srgbClr val="202729"/>
                </a:solidFill>
                <a:latin typeface="Manrope SemiBold"/>
                <a:ea typeface="Manrope SemiBold"/>
                <a:cs typeface="Manrope SemiBold"/>
                <a:sym typeface="Manrope SemiBold"/>
              </a:rPr>
              <a:t>Swadeshi Coders</a:t>
            </a:r>
            <a:endParaRPr b="0" i="0" sz="1600" u="none" cap="none" strike="noStrike">
              <a:solidFill>
                <a:srgbClr val="202729"/>
              </a:solidFill>
              <a:latin typeface="Manrope SemiBold"/>
              <a:ea typeface="Manrope SemiBold"/>
              <a:cs typeface="Manrope SemiBold"/>
              <a:sym typeface="Manrope SemiBold"/>
            </a:endParaRPr>
          </a:p>
        </p:txBody>
      </p:sp>
      <p:sp>
        <p:nvSpPr>
          <p:cNvPr id="101" name="Google Shape;101;p25"/>
          <p:cNvSpPr txBox="1"/>
          <p:nvPr/>
        </p:nvSpPr>
        <p:spPr>
          <a:xfrm>
            <a:off x="383675" y="4298144"/>
            <a:ext cx="8520600" cy="637800"/>
          </a:xfrm>
          <a:prstGeom prst="rect">
            <a:avLst/>
          </a:prstGeom>
          <a:noFill/>
          <a:ln>
            <a:noFill/>
          </a:ln>
        </p:spPr>
        <p:txBody>
          <a:bodyPr anchorCtr="0" anchor="t" bIns="91425" lIns="91425" spcFirstLastPara="1" rIns="91425" wrap="square" tIns="91425">
            <a:norm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202729"/>
                </a:solidFill>
                <a:latin typeface="Manrope SemiBold"/>
                <a:ea typeface="Manrope SemiBold"/>
                <a:cs typeface="Manrope SemiBold"/>
                <a:sym typeface="Manrope SemiBold"/>
              </a:rPr>
              <a:t>Problem Statement : </a:t>
            </a:r>
            <a:r>
              <a:rPr lang="en" sz="1281">
                <a:solidFill>
                  <a:schemeClr val="dk1"/>
                </a:solidFill>
                <a:highlight>
                  <a:schemeClr val="lt1"/>
                </a:highlight>
                <a:latin typeface="Manrope SemiBold"/>
                <a:ea typeface="Manrope SemiBold"/>
                <a:cs typeface="Manrope SemiBold"/>
                <a:sym typeface="Manrope SemiBold"/>
              </a:rPr>
              <a:t>Build an AI-powered solution that improves access to information, resources, or opportunities for communities and public systems.</a:t>
            </a:r>
            <a:endParaRPr i="0" sz="2231" u="none" cap="none" strike="noStrike">
              <a:solidFill>
                <a:srgbClr val="202729"/>
              </a:solidFill>
              <a:highlight>
                <a:schemeClr val="lt1"/>
              </a:highlight>
              <a:latin typeface="Manrope SemiBold"/>
              <a:ea typeface="Manrope SemiBold"/>
              <a:cs typeface="Manrope SemiBold"/>
              <a:sym typeface="Manrope SemiBold"/>
            </a:endParaRPr>
          </a:p>
        </p:txBody>
      </p:sp>
      <p:sp>
        <p:nvSpPr>
          <p:cNvPr id="102" name="Google Shape;102;p25"/>
          <p:cNvSpPr txBox="1"/>
          <p:nvPr/>
        </p:nvSpPr>
        <p:spPr>
          <a:xfrm>
            <a:off x="383663" y="3854458"/>
            <a:ext cx="8520600" cy="443700"/>
          </a:xfrm>
          <a:prstGeom prst="rect">
            <a:avLst/>
          </a:prstGeom>
          <a:noFill/>
          <a:ln>
            <a:noFill/>
          </a:ln>
        </p:spPr>
        <p:txBody>
          <a:bodyPr anchorCtr="0" anchor="t" bIns="91425" lIns="91425" spcFirstLastPara="1" rIns="91425" wrap="square" tIns="91425">
            <a:normAutofit/>
          </a:bodyPr>
          <a:lstStyle/>
          <a:p>
            <a:pPr indent="0" lvl="0" marL="0" marR="0" rtl="0" algn="l">
              <a:lnSpc>
                <a:spcPct val="80000"/>
              </a:lnSpc>
              <a:spcBef>
                <a:spcPts val="0"/>
              </a:spcBef>
              <a:spcAft>
                <a:spcPts val="0"/>
              </a:spcAft>
              <a:buClr>
                <a:srgbClr val="000000"/>
              </a:buClr>
              <a:buSzPts val="1600"/>
              <a:buFont typeface="Arial"/>
              <a:buNone/>
            </a:pPr>
            <a:r>
              <a:rPr b="0" i="0" lang="en" sz="1600" u="none" cap="none" strike="noStrike">
                <a:solidFill>
                  <a:srgbClr val="202729"/>
                </a:solidFill>
                <a:latin typeface="Manrope SemiBold"/>
                <a:ea typeface="Manrope SemiBold"/>
                <a:cs typeface="Manrope SemiBold"/>
                <a:sym typeface="Manrope SemiBold"/>
              </a:rPr>
              <a:t>Team Leader Name :</a:t>
            </a:r>
            <a:r>
              <a:rPr lang="en" sz="1600">
                <a:solidFill>
                  <a:srgbClr val="202729"/>
                </a:solidFill>
                <a:latin typeface="Manrope SemiBold"/>
                <a:ea typeface="Manrope SemiBold"/>
                <a:cs typeface="Manrope SemiBold"/>
                <a:sym typeface="Manrope SemiBold"/>
              </a:rPr>
              <a:t> Amit Anil Kamble</a:t>
            </a:r>
            <a:endParaRPr b="0" i="0" sz="1600" u="none" cap="none" strike="noStrike">
              <a:solidFill>
                <a:srgbClr val="202729"/>
              </a:solidFill>
              <a:latin typeface="Manrope SemiBold"/>
              <a:ea typeface="Manrope SemiBold"/>
              <a:cs typeface="Manrope SemiBold"/>
              <a:sym typeface="Manrope Semi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26"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08" name="Google Shape;108;p26"/>
          <p:cNvSpPr txBox="1"/>
          <p:nvPr/>
        </p:nvSpPr>
        <p:spPr>
          <a:xfrm>
            <a:off x="311700" y="863550"/>
            <a:ext cx="2403000" cy="4659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Clr>
                <a:srgbClr val="000000"/>
              </a:buClr>
              <a:buSzPts val="935"/>
              <a:buFont typeface="Arial"/>
              <a:buNone/>
            </a:pPr>
            <a:r>
              <a:rPr b="1" i="0" lang="en" sz="1700" u="none" cap="none" strike="noStrike">
                <a:solidFill>
                  <a:srgbClr val="202729"/>
                </a:solidFill>
                <a:latin typeface="Manrope"/>
                <a:ea typeface="Manrope"/>
                <a:cs typeface="Manrope"/>
                <a:sym typeface="Manrope"/>
              </a:rPr>
              <a:t>Brief about the Idea:</a:t>
            </a:r>
            <a:endParaRPr b="1" i="0" sz="1700" u="none" cap="none" strike="noStrike">
              <a:solidFill>
                <a:srgbClr val="202729"/>
              </a:solidFill>
              <a:latin typeface="Manrope"/>
              <a:ea typeface="Manrope"/>
              <a:cs typeface="Manrope"/>
              <a:sym typeface="Manrope"/>
            </a:endParaRPr>
          </a:p>
        </p:txBody>
      </p:sp>
      <p:sp>
        <p:nvSpPr>
          <p:cNvPr id="109" name="Google Shape;109;p26"/>
          <p:cNvSpPr txBox="1"/>
          <p:nvPr/>
        </p:nvSpPr>
        <p:spPr>
          <a:xfrm>
            <a:off x="389350" y="1376025"/>
            <a:ext cx="8705400" cy="31791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Clr>
                <a:schemeClr val="dk1"/>
              </a:buClr>
              <a:buSzPts val="1600"/>
              <a:buChar char="●"/>
            </a:pPr>
            <a:r>
              <a:rPr b="1" lang="en" sz="1600">
                <a:solidFill>
                  <a:schemeClr val="dk1"/>
                </a:solidFill>
              </a:rPr>
              <a:t>The Pitch:</a:t>
            </a:r>
            <a:r>
              <a:rPr lang="en" sz="1600">
                <a:solidFill>
                  <a:schemeClr val="dk1"/>
                </a:solidFill>
              </a:rPr>
              <a:t> SanitiSense AI is not just a reporting tool; it is a </a:t>
            </a:r>
            <a:r>
              <a:rPr b="1" lang="en" sz="1600">
                <a:solidFill>
                  <a:schemeClr val="dk1"/>
                </a:solidFill>
              </a:rPr>
              <a:t>Civic Operating System</a:t>
            </a:r>
            <a:r>
              <a:rPr lang="en" sz="1600">
                <a:solidFill>
                  <a:schemeClr val="dk1"/>
                </a:solidFill>
              </a:rPr>
              <a:t>. It creates a closed-loop ecosystem that connects </a:t>
            </a:r>
            <a:r>
              <a:rPr b="1" lang="en" sz="1600">
                <a:solidFill>
                  <a:schemeClr val="dk1"/>
                </a:solidFill>
              </a:rPr>
              <a:t>Citizens</a:t>
            </a:r>
            <a:r>
              <a:rPr lang="en" sz="1600">
                <a:solidFill>
                  <a:schemeClr val="dk1"/>
                </a:solidFill>
              </a:rPr>
              <a:t> (via inclusive reporting), </a:t>
            </a:r>
            <a:r>
              <a:rPr b="1" lang="en" sz="1600">
                <a:solidFill>
                  <a:schemeClr val="dk1"/>
                </a:solidFill>
              </a:rPr>
              <a:t>Sanitation Workers</a:t>
            </a:r>
            <a:r>
              <a:rPr lang="en" sz="1600">
                <a:solidFill>
                  <a:schemeClr val="dk1"/>
                </a:solidFill>
              </a:rPr>
              <a:t> (via dynamic route optimization), and </a:t>
            </a:r>
            <a:r>
              <a:rPr b="1" lang="en" sz="1600">
                <a:solidFill>
                  <a:schemeClr val="dk1"/>
                </a:solidFill>
              </a:rPr>
              <a:t>Authorities</a:t>
            </a:r>
            <a:r>
              <a:rPr lang="en" sz="1600">
                <a:solidFill>
                  <a:schemeClr val="dk1"/>
                </a:solidFill>
              </a:rPr>
              <a:t> (via epidemic prediction).</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en" sz="1600">
                <a:solidFill>
                  <a:schemeClr val="dk1"/>
                </a:solidFill>
              </a:rPr>
              <a:t>Core Philosophy:</a:t>
            </a:r>
            <a:r>
              <a:rPr lang="en" sz="1600">
                <a:solidFill>
                  <a:schemeClr val="dk1"/>
                </a:solidFill>
              </a:rPr>
              <a:t> "We don't just identify the trash; we ensure it leaves the street and prevent it from coming back."</a:t>
            </a:r>
            <a:endParaRPr sz="1600">
              <a:solidFill>
                <a:schemeClr val="dk1"/>
              </a:solidFill>
            </a:endParaRPr>
          </a:p>
          <a:p>
            <a:pPr indent="0" lvl="0" marL="0" rtl="0" algn="l">
              <a:spcBef>
                <a:spcPts val="1200"/>
              </a:spcBef>
              <a:spcAft>
                <a:spcPts val="0"/>
              </a:spcAft>
              <a:buNone/>
            </a:pPr>
            <a:r>
              <a:t/>
            </a:r>
            <a:endParaRPr sz="1200">
              <a:solidFill>
                <a:schemeClr val="dk1"/>
              </a:solidFill>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id="114" name="Google Shape;114;p27"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15" name="Google Shape;115;p27"/>
          <p:cNvSpPr txBox="1"/>
          <p:nvPr/>
        </p:nvSpPr>
        <p:spPr>
          <a:xfrm>
            <a:off x="311700" y="863550"/>
            <a:ext cx="8605800" cy="4008000"/>
          </a:xfrm>
          <a:prstGeom prst="rect">
            <a:avLst/>
          </a:prstGeom>
          <a:noFill/>
          <a:ln>
            <a:noFill/>
          </a:ln>
        </p:spPr>
        <p:txBody>
          <a:bodyPr anchorCtr="0" anchor="t" bIns="91425" lIns="91425" spcFirstLastPara="1" rIns="91425" wrap="square" tIns="91425">
            <a:normAutofit fontScale="40000" lnSpcReduction="10000"/>
          </a:bodyPr>
          <a:lstStyle/>
          <a:p>
            <a:pPr indent="0" lvl="0" marL="0" marR="0" rtl="0" algn="l">
              <a:lnSpc>
                <a:spcPct val="115000"/>
              </a:lnSpc>
              <a:spcBef>
                <a:spcPts val="0"/>
              </a:spcBef>
              <a:spcAft>
                <a:spcPts val="0"/>
              </a:spcAft>
              <a:buClr>
                <a:srgbClr val="000000"/>
              </a:buClr>
              <a:buSzPct val="55000"/>
              <a:buFont typeface="Arial"/>
              <a:buNone/>
            </a:pPr>
            <a:r>
              <a:rPr b="1" i="0" lang="en" sz="1700" u="none" cap="none" strike="noStrike">
                <a:solidFill>
                  <a:srgbClr val="202729"/>
                </a:solidFill>
                <a:latin typeface="Manrope"/>
                <a:ea typeface="Manrope"/>
                <a:cs typeface="Manrope"/>
                <a:sym typeface="Manrope"/>
              </a:rPr>
              <a:t>Your solution should be able to explain the following:</a:t>
            </a:r>
            <a:endParaRPr b="1" i="0" sz="1700" u="none" cap="none" strike="noStrike">
              <a:solidFill>
                <a:srgbClr val="202729"/>
              </a:solidFill>
              <a:latin typeface="Manrope"/>
              <a:ea typeface="Manrope"/>
              <a:cs typeface="Manrope"/>
              <a:sym typeface="Manrope"/>
            </a:endParaRPr>
          </a:p>
          <a:p>
            <a:pPr indent="-291444" lvl="0" marL="457200" marR="0" rtl="0" algn="l">
              <a:lnSpc>
                <a:spcPct val="150000"/>
              </a:lnSpc>
              <a:spcBef>
                <a:spcPts val="1200"/>
              </a:spcBef>
              <a:spcAft>
                <a:spcPts val="0"/>
              </a:spcAft>
              <a:buClr>
                <a:srgbClr val="202729"/>
              </a:buClr>
              <a:buSzPct val="100000"/>
              <a:buFont typeface="Manrope SemiBold"/>
              <a:buChar char="●"/>
            </a:pPr>
            <a:r>
              <a:rPr b="0" i="0" lang="en" sz="2474" u="none" cap="none" strike="noStrike">
                <a:solidFill>
                  <a:srgbClr val="202729"/>
                </a:solidFill>
                <a:latin typeface="Manrope SemiBold"/>
                <a:ea typeface="Manrope SemiBold"/>
                <a:cs typeface="Manrope SemiBold"/>
                <a:sym typeface="Manrope SemiBold"/>
              </a:rPr>
              <a:t>How different is it from any of the other existing ideas?</a:t>
            </a:r>
            <a:endParaRPr sz="2474">
              <a:solidFill>
                <a:srgbClr val="202729"/>
              </a:solidFill>
              <a:latin typeface="Manrope SemiBold"/>
              <a:ea typeface="Manrope SemiBold"/>
              <a:cs typeface="Manrope SemiBold"/>
              <a:sym typeface="Manrope SemiBold"/>
            </a:endParaRPr>
          </a:p>
          <a:p>
            <a:pPr indent="-278744" lvl="1" marL="914400" rtl="0" algn="l">
              <a:lnSpc>
                <a:spcPct val="150000"/>
              </a:lnSpc>
              <a:spcBef>
                <a:spcPts val="0"/>
              </a:spcBef>
              <a:spcAft>
                <a:spcPts val="0"/>
              </a:spcAft>
              <a:buClr>
                <a:schemeClr val="dk1"/>
              </a:buClr>
              <a:buSzPct val="100000"/>
              <a:buChar char="○"/>
            </a:pPr>
            <a:r>
              <a:rPr b="1" lang="en" sz="1974">
                <a:solidFill>
                  <a:schemeClr val="dk1"/>
                </a:solidFill>
              </a:rPr>
              <a:t>Existing Apps:</a:t>
            </a:r>
            <a:r>
              <a:rPr lang="en" sz="1974">
                <a:solidFill>
                  <a:schemeClr val="dk1"/>
                </a:solidFill>
              </a:rPr>
              <a:t> </a:t>
            </a:r>
            <a:r>
              <a:rPr lang="en" sz="2350">
                <a:solidFill>
                  <a:schemeClr val="dk1"/>
                </a:solidFill>
              </a:rPr>
              <a:t>Current apps like Swachhata fail because they are built for the literate elite, not the people actually living in the mess. By demanding text inputs and complex forms, the existing system accidentally filters out the very people who need it most.</a:t>
            </a:r>
            <a:endParaRPr sz="3224">
              <a:solidFill>
                <a:schemeClr val="dk1"/>
              </a:solidFill>
            </a:endParaRPr>
          </a:p>
          <a:p>
            <a:pPr indent="-277055" lvl="2" marL="1371600" rtl="0" algn="l">
              <a:lnSpc>
                <a:spcPct val="115000"/>
              </a:lnSpc>
              <a:spcBef>
                <a:spcPts val="0"/>
              </a:spcBef>
              <a:spcAft>
                <a:spcPts val="0"/>
              </a:spcAft>
              <a:buClr>
                <a:schemeClr val="dk1"/>
              </a:buClr>
              <a:buSzPct val="100000"/>
              <a:buChar char="■"/>
            </a:pPr>
            <a:r>
              <a:rPr b="1" lang="en" sz="1907">
                <a:solidFill>
                  <a:schemeClr val="dk1"/>
                </a:solidFill>
              </a:rPr>
              <a:t>The Literacy Wall:</a:t>
            </a:r>
            <a:r>
              <a:rPr lang="en" sz="1907">
                <a:solidFill>
                  <a:schemeClr val="dk1"/>
                </a:solidFill>
              </a:rPr>
              <a:t> We found that daily wage workers and slum residents abandon these apps immediately because they cannot navigate the complex English or Hindi menus required just to upload a photo.</a:t>
            </a:r>
            <a:endParaRPr sz="1907">
              <a:solidFill>
                <a:schemeClr val="dk1"/>
              </a:solidFill>
            </a:endParaRPr>
          </a:p>
          <a:p>
            <a:pPr indent="-277055" lvl="2" marL="1371600" rtl="0" algn="l">
              <a:lnSpc>
                <a:spcPct val="115000"/>
              </a:lnSpc>
              <a:spcBef>
                <a:spcPts val="0"/>
              </a:spcBef>
              <a:spcAft>
                <a:spcPts val="0"/>
              </a:spcAft>
              <a:buClr>
                <a:schemeClr val="dk1"/>
              </a:buClr>
              <a:buSzPct val="100000"/>
              <a:buChar char="■"/>
            </a:pPr>
            <a:r>
              <a:rPr b="1" lang="en" sz="1907">
                <a:solidFill>
                  <a:schemeClr val="dk1"/>
                </a:solidFill>
              </a:rPr>
              <a:t>The Invisible Crisis:</a:t>
            </a:r>
            <a:r>
              <a:rPr lang="en" sz="1907">
                <a:solidFill>
                  <a:schemeClr val="dk1"/>
                </a:solidFill>
              </a:rPr>
              <a:t> Because these communities cannot "log" a formal ticket, the administration assumes their neighborhoods are clean, leaving the city's most dangerous hotspots completely off the map.</a:t>
            </a:r>
            <a:endParaRPr sz="1974">
              <a:solidFill>
                <a:schemeClr val="dk1"/>
              </a:solidFill>
            </a:endParaRPr>
          </a:p>
          <a:p>
            <a:pPr indent="-278744" lvl="1" marL="914400" rtl="0" algn="l">
              <a:lnSpc>
                <a:spcPct val="150000"/>
              </a:lnSpc>
              <a:spcBef>
                <a:spcPts val="0"/>
              </a:spcBef>
              <a:spcAft>
                <a:spcPts val="0"/>
              </a:spcAft>
              <a:buClr>
                <a:schemeClr val="dk1"/>
              </a:buClr>
              <a:buSzPct val="100000"/>
              <a:buChar char="○"/>
            </a:pPr>
            <a:r>
              <a:rPr b="1" lang="en" sz="1974">
                <a:solidFill>
                  <a:schemeClr val="dk1"/>
                </a:solidFill>
              </a:rPr>
              <a:t>SanitiSense:</a:t>
            </a:r>
            <a:r>
              <a:rPr lang="en" sz="1974">
                <a:solidFill>
                  <a:schemeClr val="dk1"/>
                </a:solidFill>
              </a:rPr>
              <a:t> Is a "Logistics Engine." We actively direct the trucks to the trash and force verification before closing tickets.</a:t>
            </a:r>
            <a:endParaRPr sz="2474">
              <a:solidFill>
                <a:srgbClr val="202729"/>
              </a:solidFill>
              <a:latin typeface="Manrope SemiBold"/>
              <a:ea typeface="Manrope SemiBold"/>
              <a:cs typeface="Manrope SemiBold"/>
              <a:sym typeface="Manrope SemiBold"/>
            </a:endParaRPr>
          </a:p>
          <a:p>
            <a:pPr indent="-291444" lvl="0" marL="457200" marR="0" rtl="0" algn="l">
              <a:lnSpc>
                <a:spcPct val="150000"/>
              </a:lnSpc>
              <a:spcBef>
                <a:spcPts val="0"/>
              </a:spcBef>
              <a:spcAft>
                <a:spcPts val="0"/>
              </a:spcAft>
              <a:buClr>
                <a:srgbClr val="202729"/>
              </a:buClr>
              <a:buSzPct val="100000"/>
              <a:buFont typeface="Manrope SemiBold"/>
              <a:buChar char="●"/>
            </a:pPr>
            <a:r>
              <a:rPr b="0" i="0" lang="en" sz="2474" u="none" cap="none" strike="noStrike">
                <a:solidFill>
                  <a:srgbClr val="202729"/>
                </a:solidFill>
                <a:latin typeface="Manrope SemiBold"/>
                <a:ea typeface="Manrope SemiBold"/>
                <a:cs typeface="Manrope SemiBold"/>
                <a:sym typeface="Manrope SemiBold"/>
              </a:rPr>
              <a:t>How will it be able to solve the problem?</a:t>
            </a:r>
            <a:endParaRPr b="0" i="0" sz="2474" u="none" cap="none" strike="noStrike">
              <a:solidFill>
                <a:srgbClr val="202729"/>
              </a:solidFill>
              <a:latin typeface="Manrope SemiBold"/>
              <a:ea typeface="Manrope SemiBold"/>
              <a:cs typeface="Manrope SemiBold"/>
              <a:sym typeface="Manrope SemiBold"/>
            </a:endParaRPr>
          </a:p>
          <a:p>
            <a:pPr indent="-278744" lvl="1" marL="914400" rtl="0" algn="l">
              <a:lnSpc>
                <a:spcPct val="150000"/>
              </a:lnSpc>
              <a:spcBef>
                <a:spcPts val="0"/>
              </a:spcBef>
              <a:spcAft>
                <a:spcPts val="0"/>
              </a:spcAft>
              <a:buClr>
                <a:schemeClr val="dk1"/>
              </a:buClr>
              <a:buSzPct val="100000"/>
              <a:buChar char="○"/>
            </a:pPr>
            <a:r>
              <a:rPr b="1" lang="en" sz="1974">
                <a:solidFill>
                  <a:schemeClr val="dk1"/>
                </a:solidFill>
              </a:rPr>
              <a:t>Access:</a:t>
            </a:r>
            <a:r>
              <a:rPr lang="en" sz="1974">
                <a:solidFill>
                  <a:schemeClr val="dk1"/>
                </a:solidFill>
              </a:rPr>
              <a:t> Voice/Photo-first interface breaks the literacy barrier.</a:t>
            </a:r>
            <a:endParaRPr sz="1974">
              <a:solidFill>
                <a:schemeClr val="dk1"/>
              </a:solidFill>
            </a:endParaRPr>
          </a:p>
          <a:p>
            <a:pPr indent="-278744" lvl="1" marL="914400" rtl="0" algn="l">
              <a:lnSpc>
                <a:spcPct val="150000"/>
              </a:lnSpc>
              <a:spcBef>
                <a:spcPts val="0"/>
              </a:spcBef>
              <a:spcAft>
                <a:spcPts val="0"/>
              </a:spcAft>
              <a:buClr>
                <a:schemeClr val="dk1"/>
              </a:buClr>
              <a:buSzPct val="100000"/>
              <a:buChar char="○"/>
            </a:pPr>
            <a:r>
              <a:rPr b="1" lang="en" sz="1974">
                <a:solidFill>
                  <a:schemeClr val="dk1"/>
                </a:solidFill>
              </a:rPr>
              <a:t>Efficiency:</a:t>
            </a:r>
            <a:r>
              <a:rPr lang="en" sz="1974">
                <a:solidFill>
                  <a:schemeClr val="dk1"/>
                </a:solidFill>
              </a:rPr>
              <a:t> Optimizes truck routes to save fuel and clear high-priority hazards first.</a:t>
            </a:r>
            <a:endParaRPr sz="1974">
              <a:solidFill>
                <a:schemeClr val="dk1"/>
              </a:solidFill>
            </a:endParaRPr>
          </a:p>
          <a:p>
            <a:pPr indent="-278744" lvl="1" marL="914400" rtl="0" algn="l">
              <a:lnSpc>
                <a:spcPct val="150000"/>
              </a:lnSpc>
              <a:spcBef>
                <a:spcPts val="0"/>
              </a:spcBef>
              <a:spcAft>
                <a:spcPts val="0"/>
              </a:spcAft>
              <a:buClr>
                <a:schemeClr val="dk1"/>
              </a:buClr>
              <a:buSzPct val="100000"/>
              <a:buChar char="○"/>
            </a:pPr>
            <a:r>
              <a:rPr b="1" lang="en" sz="1974">
                <a:solidFill>
                  <a:schemeClr val="dk1"/>
                </a:solidFill>
              </a:rPr>
              <a:t>Accountability:</a:t>
            </a:r>
            <a:r>
              <a:rPr lang="en" sz="1974">
                <a:solidFill>
                  <a:schemeClr val="dk1"/>
                </a:solidFill>
              </a:rPr>
              <a:t> "Proof of Cleanliness" prevents fake resolutions by workers.</a:t>
            </a:r>
            <a:endParaRPr sz="1974">
              <a:solidFill>
                <a:schemeClr val="dk1"/>
              </a:solidFill>
            </a:endParaRPr>
          </a:p>
          <a:p>
            <a:pPr indent="0" lvl="0" marL="914400" rtl="0" algn="l">
              <a:lnSpc>
                <a:spcPct val="115000"/>
              </a:lnSpc>
              <a:spcBef>
                <a:spcPts val="0"/>
              </a:spcBef>
              <a:spcAft>
                <a:spcPts val="0"/>
              </a:spcAft>
              <a:buNone/>
            </a:pPr>
            <a:r>
              <a:t/>
            </a:r>
            <a:endParaRPr sz="1974">
              <a:solidFill>
                <a:schemeClr val="dk1"/>
              </a:solidFill>
            </a:endParaRPr>
          </a:p>
          <a:p>
            <a:pPr indent="-291444" lvl="0" marL="457200" marR="0" rtl="0" algn="l">
              <a:lnSpc>
                <a:spcPct val="150000"/>
              </a:lnSpc>
              <a:spcBef>
                <a:spcPts val="0"/>
              </a:spcBef>
              <a:spcAft>
                <a:spcPts val="0"/>
              </a:spcAft>
              <a:buClr>
                <a:srgbClr val="202729"/>
              </a:buClr>
              <a:buSzPct val="100000"/>
              <a:buFont typeface="Manrope SemiBold"/>
              <a:buChar char="●"/>
            </a:pPr>
            <a:r>
              <a:rPr b="0" i="0" lang="en" sz="2474" u="none" cap="none" strike="noStrike">
                <a:solidFill>
                  <a:srgbClr val="202729"/>
                </a:solidFill>
                <a:latin typeface="Manrope SemiBold"/>
                <a:ea typeface="Manrope SemiBold"/>
                <a:cs typeface="Manrope SemiBold"/>
                <a:sym typeface="Manrope SemiBold"/>
              </a:rPr>
              <a:t>USP of the proposed solution</a:t>
            </a:r>
            <a:endParaRPr b="0" i="0" sz="2474" u="none" cap="none" strike="noStrike">
              <a:solidFill>
                <a:srgbClr val="202729"/>
              </a:solidFill>
              <a:latin typeface="Manrope SemiBold"/>
              <a:ea typeface="Manrope SemiBold"/>
              <a:cs typeface="Manrope SemiBold"/>
              <a:sym typeface="Manrope SemiBold"/>
            </a:endParaRPr>
          </a:p>
          <a:p>
            <a:pPr indent="-278744" lvl="1" marL="914400" rtl="0" algn="l">
              <a:lnSpc>
                <a:spcPct val="150000"/>
              </a:lnSpc>
              <a:spcBef>
                <a:spcPts val="0"/>
              </a:spcBef>
              <a:spcAft>
                <a:spcPts val="0"/>
              </a:spcAft>
              <a:buClr>
                <a:schemeClr val="dk1"/>
              </a:buClr>
              <a:buSzPct val="100000"/>
              <a:buChar char="○"/>
            </a:pPr>
            <a:r>
              <a:rPr b="1" lang="en" sz="1974">
                <a:solidFill>
                  <a:schemeClr val="dk1"/>
                </a:solidFill>
              </a:rPr>
              <a:t>The Triple-Lock Mechanism:</a:t>
            </a:r>
            <a:endParaRPr b="1" sz="1974">
              <a:solidFill>
                <a:schemeClr val="dk1"/>
              </a:solidFill>
            </a:endParaRPr>
          </a:p>
          <a:p>
            <a:pPr indent="-278744" lvl="1" marL="914400" rtl="0" algn="l">
              <a:lnSpc>
                <a:spcPct val="150000"/>
              </a:lnSpc>
              <a:spcBef>
                <a:spcPts val="0"/>
              </a:spcBef>
              <a:spcAft>
                <a:spcPts val="0"/>
              </a:spcAft>
              <a:buClr>
                <a:schemeClr val="dk1"/>
              </a:buClr>
              <a:buSzPct val="100000"/>
              <a:buChar char="○"/>
            </a:pPr>
            <a:r>
              <a:rPr b="1" lang="en" sz="1974">
                <a:solidFill>
                  <a:schemeClr val="dk1"/>
                </a:solidFill>
              </a:rPr>
              <a:t>AI Verification</a:t>
            </a:r>
            <a:r>
              <a:rPr lang="en" sz="1974">
                <a:solidFill>
                  <a:schemeClr val="dk1"/>
                </a:solidFill>
              </a:rPr>
              <a:t> (Validates the Report).</a:t>
            </a:r>
            <a:endParaRPr sz="1974">
              <a:solidFill>
                <a:schemeClr val="dk1"/>
              </a:solidFill>
            </a:endParaRPr>
          </a:p>
          <a:p>
            <a:pPr indent="-278744" lvl="1" marL="914400" rtl="0" algn="l">
              <a:lnSpc>
                <a:spcPct val="150000"/>
              </a:lnSpc>
              <a:spcBef>
                <a:spcPts val="0"/>
              </a:spcBef>
              <a:spcAft>
                <a:spcPts val="0"/>
              </a:spcAft>
              <a:buClr>
                <a:schemeClr val="dk1"/>
              </a:buClr>
              <a:buSzPct val="100000"/>
              <a:buChar char="○"/>
            </a:pPr>
            <a:r>
              <a:rPr b="1" lang="en" sz="1974">
                <a:solidFill>
                  <a:schemeClr val="dk1"/>
                </a:solidFill>
              </a:rPr>
              <a:t>Route Optimization</a:t>
            </a:r>
            <a:r>
              <a:rPr lang="en" sz="1974">
                <a:solidFill>
                  <a:schemeClr val="dk1"/>
                </a:solidFill>
              </a:rPr>
              <a:t> (Executes the Cleanup).</a:t>
            </a:r>
            <a:endParaRPr sz="1974">
              <a:solidFill>
                <a:schemeClr val="dk1"/>
              </a:solidFill>
            </a:endParaRPr>
          </a:p>
          <a:p>
            <a:pPr indent="-278744" lvl="1" marL="914400" rtl="0" algn="l">
              <a:lnSpc>
                <a:spcPct val="150000"/>
              </a:lnSpc>
              <a:spcBef>
                <a:spcPts val="0"/>
              </a:spcBef>
              <a:spcAft>
                <a:spcPts val="0"/>
              </a:spcAft>
              <a:buClr>
                <a:schemeClr val="dk1"/>
              </a:buClr>
              <a:buSzPct val="100000"/>
              <a:buChar char="○"/>
            </a:pPr>
            <a:r>
              <a:rPr b="1" lang="en" sz="1974">
                <a:solidFill>
                  <a:schemeClr val="dk1"/>
                </a:solidFill>
              </a:rPr>
              <a:t>Epidemic Forecasting</a:t>
            </a:r>
            <a:r>
              <a:rPr lang="en" sz="1974">
                <a:solidFill>
                  <a:schemeClr val="dk1"/>
                </a:solidFill>
              </a:rPr>
              <a:t> (Predicts Health Risks).</a:t>
            </a:r>
            <a:endParaRPr sz="1974">
              <a:solidFill>
                <a:schemeClr val="dk1"/>
              </a:solidFill>
            </a:endParaRPr>
          </a:p>
          <a:p>
            <a:pPr indent="0" lvl="0" marL="0" marR="0" rtl="0" algn="l">
              <a:lnSpc>
                <a:spcPct val="115000"/>
              </a:lnSpc>
              <a:spcBef>
                <a:spcPts val="1200"/>
              </a:spcBef>
              <a:spcAft>
                <a:spcPts val="0"/>
              </a:spcAft>
              <a:buNone/>
            </a:pPr>
            <a:r>
              <a:t/>
            </a:r>
            <a:endParaRPr sz="1600">
              <a:solidFill>
                <a:srgbClr val="202729"/>
              </a:solidFill>
              <a:latin typeface="Manrope SemiBold"/>
              <a:ea typeface="Manrope SemiBold"/>
              <a:cs typeface="Manrope SemiBold"/>
              <a:sym typeface="Manrope SemiBold"/>
            </a:endParaRPr>
          </a:p>
          <a:p>
            <a:pPr indent="0" lvl="0" marL="0" marR="0" rtl="0" algn="l">
              <a:lnSpc>
                <a:spcPct val="115000"/>
              </a:lnSpc>
              <a:spcBef>
                <a:spcPts val="1200"/>
              </a:spcBef>
              <a:spcAft>
                <a:spcPts val="1200"/>
              </a:spcAft>
              <a:buClr>
                <a:srgbClr val="000000"/>
              </a:buClr>
              <a:buSzPct val="58437"/>
              <a:buFont typeface="Arial"/>
              <a:buNone/>
            </a:pPr>
            <a:r>
              <a:t/>
            </a:r>
            <a:endParaRPr b="0" i="0" sz="1600" u="none" cap="none" strike="noStrike">
              <a:solidFill>
                <a:srgbClr val="202729"/>
              </a:solidFill>
              <a:latin typeface="Manrope SemiBold"/>
              <a:ea typeface="Manrope SemiBold"/>
              <a:cs typeface="Manrope SemiBold"/>
              <a:sym typeface="Manrope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28"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21" name="Google Shape;121;p28"/>
          <p:cNvSpPr txBox="1"/>
          <p:nvPr/>
        </p:nvSpPr>
        <p:spPr>
          <a:xfrm>
            <a:off x="396825" y="626525"/>
            <a:ext cx="8347200" cy="38853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935"/>
              <a:buFont typeface="Arial"/>
              <a:buNone/>
            </a:pPr>
            <a:r>
              <a:rPr b="1" i="0" lang="en" sz="1700" u="none" cap="none" strike="noStrike">
                <a:solidFill>
                  <a:srgbClr val="202729"/>
                </a:solidFill>
                <a:latin typeface="Manrope"/>
                <a:ea typeface="Manrope"/>
                <a:cs typeface="Manrope"/>
                <a:sym typeface="Manrope"/>
              </a:rPr>
              <a:t>List of features offered by the solution</a:t>
            </a:r>
            <a:endParaRPr b="1" i="0" sz="1700" u="none" cap="none" strike="noStrike">
              <a:solidFill>
                <a:srgbClr val="202729"/>
              </a:solidFill>
              <a:latin typeface="Manrope"/>
              <a:ea typeface="Manrope"/>
              <a:cs typeface="Manrope"/>
              <a:sym typeface="Manrope"/>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Smart Route Optimization ("Uber for Garbage"):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Dynamic generation of daily pickup routes based on urgency and traffic.</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Prioritizes bio-hazards and blocked roads automatically.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Anti-Fraud "Proof of Cleanliness":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Workers cannot close a ticket without uploading an "After" photo.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AI compares "Before" vs. "After" images to ensure the specific waste pile is gone.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Hyper-Local Epidemic Prediction:</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Correlates garbage accumulation zones with water stagnation data.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Alerts health officials to potential Dengue/Malaria hotspots </a:t>
            </a:r>
            <a:r>
              <a:rPr i="1" lang="en" sz="1100">
                <a:solidFill>
                  <a:schemeClr val="dk1"/>
                </a:solidFill>
              </a:rPr>
              <a:t>before</a:t>
            </a:r>
            <a:r>
              <a:rPr lang="en" sz="1100">
                <a:solidFill>
                  <a:schemeClr val="dk1"/>
                </a:solidFill>
              </a:rPr>
              <a:t> outbreaks occur.</a:t>
            </a:r>
            <a:endParaRPr sz="1100">
              <a:solidFill>
                <a:schemeClr val="dk1"/>
              </a:solidFill>
            </a:endParaRPr>
          </a:p>
          <a:p>
            <a:pPr indent="0" lvl="0" marL="0" marR="0" rtl="0" algn="l">
              <a:lnSpc>
                <a:spcPct val="115000"/>
              </a:lnSpc>
              <a:spcBef>
                <a:spcPts val="1200"/>
              </a:spcBef>
              <a:spcAft>
                <a:spcPts val="1200"/>
              </a:spcAft>
              <a:buClr>
                <a:srgbClr val="000000"/>
              </a:buClr>
              <a:buSzPts val="935"/>
              <a:buFont typeface="Arial"/>
              <a:buNone/>
            </a:pPr>
            <a:r>
              <a:t/>
            </a:r>
            <a:endParaRPr>
              <a:solidFill>
                <a:srgbClr val="434343"/>
              </a:solidFill>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9"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27" name="Google Shape;127;p29"/>
          <p:cNvSpPr txBox="1"/>
          <p:nvPr/>
        </p:nvSpPr>
        <p:spPr>
          <a:xfrm>
            <a:off x="311700" y="863550"/>
            <a:ext cx="7531800" cy="36696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935"/>
              <a:buFont typeface="Arial"/>
              <a:buNone/>
            </a:pPr>
            <a:r>
              <a:rPr b="1" i="0" lang="en" sz="1700" u="none" cap="none" strike="noStrike">
                <a:solidFill>
                  <a:srgbClr val="202729"/>
                </a:solidFill>
                <a:latin typeface="Manrope"/>
                <a:ea typeface="Manrope"/>
                <a:cs typeface="Manrope"/>
                <a:sym typeface="Manrope"/>
              </a:rPr>
              <a:t>Process flow diagram or Use-case diagram</a:t>
            </a:r>
            <a:endParaRPr b="1" i="0" sz="1700" u="none" cap="none" strike="noStrike">
              <a:solidFill>
                <a:srgbClr val="202729"/>
              </a:solidFill>
              <a:latin typeface="Manrope"/>
              <a:ea typeface="Manrope"/>
              <a:cs typeface="Manrope"/>
              <a:sym typeface="Manrope"/>
            </a:endParaRPr>
          </a:p>
          <a:p>
            <a:pPr indent="0" lvl="0" marL="0" marR="0" rtl="0" algn="l">
              <a:lnSpc>
                <a:spcPct val="115000"/>
              </a:lnSpc>
              <a:spcBef>
                <a:spcPts val="1200"/>
              </a:spcBef>
              <a:spcAft>
                <a:spcPts val="0"/>
              </a:spcAft>
              <a:buClr>
                <a:srgbClr val="000000"/>
              </a:buClr>
              <a:buSzPts val="935"/>
              <a:buFont typeface="Arial"/>
              <a:buNone/>
            </a:pPr>
            <a:r>
              <a:rPr b="0" i="0" lang="en" sz="1400" u="none" cap="none" strike="noStrike">
                <a:solidFill>
                  <a:srgbClr val="434343"/>
                </a:solidFill>
                <a:latin typeface="Manrope"/>
                <a:ea typeface="Manrope"/>
                <a:cs typeface="Manrope"/>
                <a:sym typeface="Manrope"/>
              </a:rPr>
              <a:t>Add a flow diagram or a use case diagram or an architecture diagram.</a:t>
            </a:r>
            <a:endParaRPr b="0" i="0" sz="1400" u="none" cap="none" strike="noStrike">
              <a:solidFill>
                <a:srgbClr val="434343"/>
              </a:solidFill>
              <a:latin typeface="Manrope"/>
              <a:ea typeface="Manrope"/>
              <a:cs typeface="Manrope"/>
              <a:sym typeface="Manrope"/>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Draw a "Closed Loop" Cycle:</a:t>
            </a:r>
            <a:endParaRPr b="1" sz="11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rPr>
              <a:t>Input:</a:t>
            </a:r>
            <a:r>
              <a:rPr lang="en" sz="1100">
                <a:solidFill>
                  <a:schemeClr val="dk1"/>
                </a:solidFill>
              </a:rPr>
              <a:t> Citizen Uploads Photo (Offline/Online).</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Triage:</a:t>
            </a:r>
            <a:r>
              <a:rPr lang="en" sz="1100">
                <a:solidFill>
                  <a:schemeClr val="dk1"/>
                </a:solidFill>
              </a:rPr>
              <a:t> AI Verifies &amp; Assigns Severity Score.</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Logistics:</a:t>
            </a:r>
            <a:r>
              <a:rPr lang="en" sz="1100">
                <a:solidFill>
                  <a:schemeClr val="dk1"/>
                </a:solidFill>
              </a:rPr>
              <a:t> </a:t>
            </a:r>
            <a:r>
              <a:rPr b="1" lang="en" sz="1100">
                <a:solidFill>
                  <a:schemeClr val="dk1"/>
                </a:solidFill>
              </a:rPr>
              <a:t>Google OR-Tools</a:t>
            </a:r>
            <a:r>
              <a:rPr lang="en" sz="1100">
                <a:solidFill>
                  <a:schemeClr val="dk1"/>
                </a:solidFill>
              </a:rPr>
              <a:t> calculates optimal truck route.</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Action:</a:t>
            </a:r>
            <a:r>
              <a:rPr lang="en" sz="1100">
                <a:solidFill>
                  <a:schemeClr val="dk1"/>
                </a:solidFill>
              </a:rPr>
              <a:t> Driver receives "Turn-by-Turn" navigation to trash.</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Validation:</a:t>
            </a:r>
            <a:r>
              <a:rPr lang="en" sz="1100">
                <a:solidFill>
                  <a:schemeClr val="dk1"/>
                </a:solidFill>
              </a:rPr>
              <a:t> Driver uploads "After" photo → </a:t>
            </a:r>
            <a:r>
              <a:rPr b="1" lang="en" sz="1100">
                <a:solidFill>
                  <a:schemeClr val="dk1"/>
                </a:solidFill>
              </a:rPr>
              <a:t>AI Validation</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sz="1100">
                <a:solidFill>
                  <a:schemeClr val="dk1"/>
                </a:solidFill>
              </a:rPr>
              <a:t>Outcome:</a:t>
            </a:r>
            <a:r>
              <a:rPr lang="en" sz="1100">
                <a:solidFill>
                  <a:schemeClr val="dk1"/>
                </a:solidFill>
              </a:rPr>
              <a:t> Ticket Closed + </a:t>
            </a:r>
            <a:r>
              <a:rPr b="1" lang="en" sz="1100">
                <a:solidFill>
                  <a:schemeClr val="dk1"/>
                </a:solidFill>
              </a:rPr>
              <a:t>Risk Dashboard Updated</a:t>
            </a:r>
            <a:r>
              <a:rPr lang="en" sz="1100">
                <a:solidFill>
                  <a:schemeClr val="dk1"/>
                </a:solidFill>
              </a:rPr>
              <a:t>.</a:t>
            </a:r>
            <a:endParaRPr sz="1100">
              <a:solidFill>
                <a:schemeClr val="dk1"/>
              </a:solidFill>
            </a:endParaRPr>
          </a:p>
          <a:p>
            <a:pPr indent="0" lvl="0" marL="0" marR="0" rtl="0" algn="l">
              <a:lnSpc>
                <a:spcPct val="115000"/>
              </a:lnSpc>
              <a:spcBef>
                <a:spcPts val="1200"/>
              </a:spcBef>
              <a:spcAft>
                <a:spcPts val="1200"/>
              </a:spcAft>
              <a:buClr>
                <a:srgbClr val="000000"/>
              </a:buClr>
              <a:buSzPts val="935"/>
              <a:buFont typeface="Arial"/>
              <a:buNone/>
            </a:pPr>
            <a:r>
              <a:t/>
            </a:r>
            <a:endParaRPr>
              <a:solidFill>
                <a:srgbClr val="434343"/>
              </a:solidFill>
              <a:latin typeface="Manrope"/>
              <a:ea typeface="Manrope"/>
              <a:cs typeface="Manrope"/>
              <a:sym typeface="Manrop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30"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33" name="Google Shape;133;p30"/>
          <p:cNvSpPr txBox="1"/>
          <p:nvPr/>
        </p:nvSpPr>
        <p:spPr>
          <a:xfrm>
            <a:off x="234275" y="786125"/>
            <a:ext cx="7531800" cy="36696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935"/>
              <a:buFont typeface="Arial"/>
              <a:buNone/>
            </a:pPr>
            <a:r>
              <a:rPr b="1" i="0" lang="en" sz="1700" u="none" cap="none" strike="noStrike">
                <a:solidFill>
                  <a:srgbClr val="202729"/>
                </a:solidFill>
                <a:latin typeface="Manrope"/>
                <a:ea typeface="Manrope"/>
                <a:cs typeface="Manrope"/>
                <a:sym typeface="Manrope"/>
              </a:rPr>
              <a:t>Wireframes/Mock diagrams of the proposed solution (optional)</a:t>
            </a:r>
            <a:endParaRPr b="1" i="0" sz="1700" u="none" cap="none" strike="noStrike">
              <a:solidFill>
                <a:srgbClr val="202729"/>
              </a:solidFill>
              <a:latin typeface="Manrope"/>
              <a:ea typeface="Manrope"/>
              <a:cs typeface="Manrope"/>
              <a:sym typeface="Manrope"/>
            </a:endParaRPr>
          </a:p>
          <a:p>
            <a:pPr indent="0" lvl="0" marL="0" marR="0" rtl="0" algn="l">
              <a:lnSpc>
                <a:spcPct val="115000"/>
              </a:lnSpc>
              <a:spcBef>
                <a:spcPts val="0"/>
              </a:spcBef>
              <a:spcAft>
                <a:spcPts val="0"/>
              </a:spcAft>
              <a:buClr>
                <a:srgbClr val="000000"/>
              </a:buClr>
              <a:buSzPts val="935"/>
              <a:buFont typeface="Arial"/>
              <a:buNone/>
            </a:pPr>
            <a:r>
              <a:t/>
            </a:r>
            <a:endParaRPr b="1" sz="1700">
              <a:solidFill>
                <a:srgbClr val="202729"/>
              </a:solidFill>
              <a:latin typeface="Manrope"/>
              <a:ea typeface="Manrope"/>
              <a:cs typeface="Manrope"/>
              <a:sym typeface="Manrope"/>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Left Screen (Citizen):</a:t>
            </a:r>
            <a:r>
              <a:rPr lang="en" sz="1100">
                <a:solidFill>
                  <a:schemeClr val="dk1"/>
                </a:solidFill>
              </a:rPr>
              <a:t> Big Green Button (Camera). Minimal text.</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Middle Screen (Driver):</a:t>
            </a:r>
            <a:r>
              <a:rPr lang="en" sz="1100">
                <a:solidFill>
                  <a:schemeClr val="dk1"/>
                </a:solidFill>
              </a:rPr>
              <a:t> A map view (like Uber Driver app) showing "Next Pickup: 200m away."</a:t>
            </a:r>
            <a:endParaRPr sz="11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Right Screen (Authority):</a:t>
            </a:r>
            <a:r>
              <a:rPr lang="en" sz="1100">
                <a:solidFill>
                  <a:schemeClr val="dk1"/>
                </a:solidFill>
              </a:rPr>
              <a:t> A "Heatmap" showing Red Zones (High Risk of Disease).</a:t>
            </a:r>
            <a:endParaRPr sz="1100">
              <a:solidFill>
                <a:schemeClr val="dk1"/>
              </a:solidFill>
            </a:endParaRPr>
          </a:p>
          <a:p>
            <a:pPr indent="0" lvl="0" marL="0" marR="0" rtl="0" algn="l">
              <a:lnSpc>
                <a:spcPct val="115000"/>
              </a:lnSpc>
              <a:spcBef>
                <a:spcPts val="0"/>
              </a:spcBef>
              <a:spcAft>
                <a:spcPts val="0"/>
              </a:spcAft>
              <a:buClr>
                <a:srgbClr val="000000"/>
              </a:buClr>
              <a:buSzPts val="935"/>
              <a:buFont typeface="Arial"/>
              <a:buNone/>
            </a:pPr>
            <a:r>
              <a:t/>
            </a:r>
            <a:endParaRPr b="1" sz="1700">
              <a:solidFill>
                <a:srgbClr val="202729"/>
              </a:solidFill>
              <a:latin typeface="Manrope"/>
              <a:ea typeface="Manrope"/>
              <a:cs typeface="Manrope"/>
              <a:sym typeface="Manrope"/>
            </a:endParaRPr>
          </a:p>
          <a:p>
            <a:pPr indent="0" lvl="0" marL="0" marR="0" rtl="0" algn="l">
              <a:lnSpc>
                <a:spcPct val="115000"/>
              </a:lnSpc>
              <a:spcBef>
                <a:spcPts val="1200"/>
              </a:spcBef>
              <a:spcAft>
                <a:spcPts val="1200"/>
              </a:spcAft>
              <a:buClr>
                <a:srgbClr val="000000"/>
              </a:buClr>
              <a:buSzPts val="935"/>
              <a:buFont typeface="Arial"/>
              <a:buNone/>
            </a:pPr>
            <a:r>
              <a:t/>
            </a:r>
            <a:endParaRPr b="0" i="0" sz="1400" u="none" cap="none" strike="noStrike">
              <a:solidFill>
                <a:srgbClr val="434343"/>
              </a:solidFill>
              <a:latin typeface="Manrope"/>
              <a:ea typeface="Manrope"/>
              <a:cs typeface="Manrope"/>
              <a:sym typeface="Manrop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31"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39" name="Google Shape;139;p31"/>
          <p:cNvSpPr txBox="1"/>
          <p:nvPr/>
        </p:nvSpPr>
        <p:spPr>
          <a:xfrm>
            <a:off x="112825" y="535375"/>
            <a:ext cx="8738400" cy="4369200"/>
          </a:xfrm>
          <a:prstGeom prst="rect">
            <a:avLst/>
          </a:prstGeom>
          <a:noFill/>
          <a:ln>
            <a:noFill/>
          </a:ln>
        </p:spPr>
        <p:txBody>
          <a:bodyPr anchorCtr="0" anchor="t" bIns="91425" lIns="91425" spcFirstLastPara="1" rIns="91425" wrap="square" tIns="91425">
            <a:normAutofit fontScale="85000" lnSpcReduction="20000"/>
          </a:bodyPr>
          <a:lstStyle/>
          <a:p>
            <a:pPr indent="0" lvl="0" marL="0" marR="0" rtl="0" algn="l">
              <a:lnSpc>
                <a:spcPct val="115000"/>
              </a:lnSpc>
              <a:spcBef>
                <a:spcPts val="0"/>
              </a:spcBef>
              <a:spcAft>
                <a:spcPts val="0"/>
              </a:spcAft>
              <a:buClr>
                <a:srgbClr val="000000"/>
              </a:buClr>
              <a:buSzPct val="55000"/>
              <a:buFont typeface="Arial"/>
              <a:buNone/>
            </a:pPr>
            <a:r>
              <a:rPr b="1" i="0" lang="en" sz="1700" u="none" cap="none" strike="noStrike">
                <a:solidFill>
                  <a:srgbClr val="202729"/>
                </a:solidFill>
                <a:latin typeface="Manrope"/>
                <a:ea typeface="Manrope"/>
                <a:cs typeface="Manrope"/>
                <a:sym typeface="Manrope"/>
              </a:rPr>
              <a:t>Architecture diagram of the proposed solution:</a:t>
            </a:r>
            <a:endParaRPr b="1" i="0" sz="1700" u="none" cap="none" strike="noStrike">
              <a:solidFill>
                <a:srgbClr val="202729"/>
              </a:solidFill>
              <a:latin typeface="Manrope"/>
              <a:ea typeface="Manrope"/>
              <a:cs typeface="Manrope"/>
              <a:sym typeface="Manrope"/>
            </a:endParaRPr>
          </a:p>
          <a:p>
            <a:pPr indent="0" lvl="0" marL="0" rtl="0" algn="l">
              <a:lnSpc>
                <a:spcPct val="115000"/>
              </a:lnSpc>
              <a:spcBef>
                <a:spcPts val="1200"/>
              </a:spcBef>
              <a:spcAft>
                <a:spcPts val="0"/>
              </a:spcAft>
              <a:buClr>
                <a:schemeClr val="dk1"/>
              </a:buClr>
              <a:buSzPct val="100000"/>
              <a:buFont typeface="Arial"/>
              <a:buNone/>
            </a:pPr>
            <a:r>
              <a:rPr b="1" lang="en" sz="1100">
                <a:solidFill>
                  <a:schemeClr val="dk1"/>
                </a:solidFill>
              </a:rPr>
              <a:t>Frontend (User &amp; Driver Interfaces):</a:t>
            </a:r>
            <a:endParaRPr b="1" sz="1100">
              <a:solidFill>
                <a:schemeClr val="dk1"/>
              </a:solidFill>
            </a:endParaRPr>
          </a:p>
          <a:p>
            <a:pPr indent="-287972" lvl="0" marL="457200" rtl="0" algn="l">
              <a:lnSpc>
                <a:spcPct val="115000"/>
              </a:lnSpc>
              <a:spcBef>
                <a:spcPts val="1200"/>
              </a:spcBef>
              <a:spcAft>
                <a:spcPts val="0"/>
              </a:spcAft>
              <a:buClr>
                <a:schemeClr val="dk1"/>
              </a:buClr>
              <a:buSzPct val="100000"/>
              <a:buChar char="●"/>
            </a:pPr>
            <a:r>
              <a:rPr b="1" lang="en" sz="1100">
                <a:solidFill>
                  <a:schemeClr val="dk1"/>
                </a:solidFill>
              </a:rPr>
              <a:t>Flutter / React Native:</a:t>
            </a:r>
            <a:r>
              <a:rPr lang="en" sz="1100">
                <a:solidFill>
                  <a:schemeClr val="dk1"/>
                </a:solidFill>
              </a:rPr>
              <a:t> For a responsive, cross-platform mobile application (Android/iOS) that handles real-time navigation and camera inputs.</a:t>
            </a:r>
            <a:endParaRPr sz="1100">
              <a:solidFill>
                <a:schemeClr val="dk1"/>
              </a:solidFill>
            </a:endParaRPr>
          </a:p>
          <a:p>
            <a:pPr indent="0" lvl="0" marL="0" rtl="0" algn="l">
              <a:lnSpc>
                <a:spcPct val="115000"/>
              </a:lnSpc>
              <a:spcBef>
                <a:spcPts val="1200"/>
              </a:spcBef>
              <a:spcAft>
                <a:spcPts val="0"/>
              </a:spcAft>
              <a:buClr>
                <a:schemeClr val="dk1"/>
              </a:buClr>
              <a:buSzPct val="100000"/>
              <a:buFont typeface="Arial"/>
              <a:buNone/>
            </a:pPr>
            <a:r>
              <a:rPr b="1" lang="en" sz="1100">
                <a:solidFill>
                  <a:schemeClr val="dk1"/>
                </a:solidFill>
              </a:rPr>
              <a:t>Logistics &amp; Optimization Engine:</a:t>
            </a:r>
            <a:endParaRPr b="1" sz="1100">
              <a:solidFill>
                <a:schemeClr val="dk1"/>
              </a:solidFill>
            </a:endParaRPr>
          </a:p>
          <a:p>
            <a:pPr indent="-287972" lvl="0" marL="457200" rtl="0" algn="l">
              <a:lnSpc>
                <a:spcPct val="115000"/>
              </a:lnSpc>
              <a:spcBef>
                <a:spcPts val="1200"/>
              </a:spcBef>
              <a:spcAft>
                <a:spcPts val="0"/>
              </a:spcAft>
              <a:buClr>
                <a:schemeClr val="dk1"/>
              </a:buClr>
              <a:buSzPct val="100000"/>
              <a:buChar char="●"/>
            </a:pPr>
            <a:r>
              <a:rPr b="1" lang="en" sz="1100">
                <a:solidFill>
                  <a:schemeClr val="dk1"/>
                </a:solidFill>
              </a:rPr>
              <a:t>Google OR-Tools:</a:t>
            </a:r>
            <a:r>
              <a:rPr lang="en" sz="1100">
                <a:solidFill>
                  <a:schemeClr val="dk1"/>
                </a:solidFill>
              </a:rPr>
              <a:t> To solve the Vehicle Routing Problem (VRP) for dynamic daily route generation.</a:t>
            </a:r>
            <a:endParaRPr sz="1100">
              <a:solidFill>
                <a:schemeClr val="dk1"/>
              </a:solidFill>
            </a:endParaRPr>
          </a:p>
          <a:p>
            <a:pPr indent="-287972" lvl="0" marL="457200" rtl="0" algn="l">
              <a:lnSpc>
                <a:spcPct val="115000"/>
              </a:lnSpc>
              <a:spcBef>
                <a:spcPts val="0"/>
              </a:spcBef>
              <a:spcAft>
                <a:spcPts val="0"/>
              </a:spcAft>
              <a:buClr>
                <a:schemeClr val="dk1"/>
              </a:buClr>
              <a:buSzPct val="100000"/>
              <a:buChar char="●"/>
            </a:pPr>
            <a:r>
              <a:rPr b="1" lang="en" sz="1100">
                <a:solidFill>
                  <a:schemeClr val="dk1"/>
                </a:solidFill>
              </a:rPr>
              <a:t>Google Maps SDK:</a:t>
            </a:r>
            <a:r>
              <a:rPr lang="en" sz="1100">
                <a:solidFill>
                  <a:schemeClr val="dk1"/>
                </a:solidFill>
              </a:rPr>
              <a:t> For visualizing the optimized routes and providing turn-by-turn navigation to drivers.</a:t>
            </a:r>
            <a:endParaRPr sz="1100">
              <a:solidFill>
                <a:schemeClr val="dk1"/>
              </a:solidFill>
            </a:endParaRPr>
          </a:p>
          <a:p>
            <a:pPr indent="0" lvl="0" marL="0" rtl="0" algn="l">
              <a:lnSpc>
                <a:spcPct val="115000"/>
              </a:lnSpc>
              <a:spcBef>
                <a:spcPts val="1200"/>
              </a:spcBef>
              <a:spcAft>
                <a:spcPts val="0"/>
              </a:spcAft>
              <a:buClr>
                <a:schemeClr val="dk1"/>
              </a:buClr>
              <a:buSzPct val="100000"/>
              <a:buFont typeface="Arial"/>
              <a:buNone/>
            </a:pPr>
            <a:r>
              <a:rPr b="1" lang="en" sz="1100">
                <a:solidFill>
                  <a:schemeClr val="dk1"/>
                </a:solidFill>
              </a:rPr>
              <a:t>AI &amp; Computer Vision Module:</a:t>
            </a:r>
            <a:endParaRPr b="1" sz="1100">
              <a:solidFill>
                <a:schemeClr val="dk1"/>
              </a:solidFill>
            </a:endParaRPr>
          </a:p>
          <a:p>
            <a:pPr indent="-287972" lvl="0" marL="457200" rtl="0" algn="l">
              <a:lnSpc>
                <a:spcPct val="115000"/>
              </a:lnSpc>
              <a:spcBef>
                <a:spcPts val="1200"/>
              </a:spcBef>
              <a:spcAft>
                <a:spcPts val="0"/>
              </a:spcAft>
              <a:buClr>
                <a:schemeClr val="dk1"/>
              </a:buClr>
              <a:buSzPct val="100000"/>
              <a:buChar char="●"/>
            </a:pPr>
            <a:r>
              <a:rPr b="1" lang="en" sz="1100">
                <a:solidFill>
                  <a:schemeClr val="dk1"/>
                </a:solidFill>
              </a:rPr>
              <a:t>TensorFlow / PyTorch:</a:t>
            </a:r>
            <a:endParaRPr b="1" sz="1100">
              <a:solidFill>
                <a:schemeClr val="dk1"/>
              </a:solidFill>
            </a:endParaRPr>
          </a:p>
          <a:p>
            <a:pPr indent="-287972" lvl="1" marL="914400" rtl="0" algn="l">
              <a:lnSpc>
                <a:spcPct val="115000"/>
              </a:lnSpc>
              <a:spcBef>
                <a:spcPts val="0"/>
              </a:spcBef>
              <a:spcAft>
                <a:spcPts val="0"/>
              </a:spcAft>
              <a:buClr>
                <a:schemeClr val="dk1"/>
              </a:buClr>
              <a:buSzPct val="100000"/>
              <a:buChar char="○"/>
            </a:pPr>
            <a:r>
              <a:rPr i="1" lang="en" sz="1100">
                <a:solidFill>
                  <a:schemeClr val="dk1"/>
                </a:solidFill>
              </a:rPr>
              <a:t>Convolutional Neural Networks (CNN)</a:t>
            </a:r>
            <a:r>
              <a:rPr lang="en" sz="1100">
                <a:solidFill>
                  <a:schemeClr val="dk1"/>
                </a:solidFill>
              </a:rPr>
              <a:t> for sanitation issue detection.</a:t>
            </a:r>
            <a:endParaRPr sz="1100">
              <a:solidFill>
                <a:schemeClr val="dk1"/>
              </a:solidFill>
            </a:endParaRPr>
          </a:p>
          <a:p>
            <a:pPr indent="-287972" lvl="1" marL="914400" rtl="0" algn="l">
              <a:lnSpc>
                <a:spcPct val="115000"/>
              </a:lnSpc>
              <a:spcBef>
                <a:spcPts val="0"/>
              </a:spcBef>
              <a:spcAft>
                <a:spcPts val="0"/>
              </a:spcAft>
              <a:buClr>
                <a:schemeClr val="dk1"/>
              </a:buClr>
              <a:buSzPct val="100000"/>
              <a:buChar char="○"/>
            </a:pPr>
            <a:r>
              <a:rPr i="1" lang="en" sz="1100">
                <a:solidFill>
                  <a:schemeClr val="dk1"/>
                </a:solidFill>
              </a:rPr>
              <a:t>Semantic Segmentation / Siamese Networks</a:t>
            </a:r>
            <a:r>
              <a:rPr lang="en" sz="1100">
                <a:solidFill>
                  <a:schemeClr val="dk1"/>
                </a:solidFill>
              </a:rPr>
              <a:t> for "Before vs. After" comparison (Proof of Cleanliness).</a:t>
            </a:r>
            <a:endParaRPr sz="1100">
              <a:solidFill>
                <a:schemeClr val="dk1"/>
              </a:solidFill>
            </a:endParaRPr>
          </a:p>
          <a:p>
            <a:pPr indent="0" lvl="0" marL="0" rtl="0" algn="l">
              <a:lnSpc>
                <a:spcPct val="115000"/>
              </a:lnSpc>
              <a:spcBef>
                <a:spcPts val="1200"/>
              </a:spcBef>
              <a:spcAft>
                <a:spcPts val="0"/>
              </a:spcAft>
              <a:buClr>
                <a:schemeClr val="dk1"/>
              </a:buClr>
              <a:buSzPct val="100000"/>
              <a:buFont typeface="Arial"/>
              <a:buNone/>
            </a:pPr>
            <a:r>
              <a:rPr b="1" lang="en" sz="1100">
                <a:solidFill>
                  <a:schemeClr val="dk1"/>
                </a:solidFill>
              </a:rPr>
              <a:t>Predictive Analytics:</a:t>
            </a:r>
            <a:endParaRPr b="1" sz="1100">
              <a:solidFill>
                <a:schemeClr val="dk1"/>
              </a:solidFill>
            </a:endParaRPr>
          </a:p>
          <a:p>
            <a:pPr indent="-287972" lvl="0" marL="457200" rtl="0" algn="l">
              <a:lnSpc>
                <a:spcPct val="115000"/>
              </a:lnSpc>
              <a:spcBef>
                <a:spcPts val="1200"/>
              </a:spcBef>
              <a:spcAft>
                <a:spcPts val="0"/>
              </a:spcAft>
              <a:buClr>
                <a:schemeClr val="dk1"/>
              </a:buClr>
              <a:buSzPct val="100000"/>
              <a:buChar char="●"/>
            </a:pPr>
            <a:r>
              <a:rPr b="1" lang="en" sz="1100">
                <a:solidFill>
                  <a:schemeClr val="dk1"/>
                </a:solidFill>
              </a:rPr>
              <a:t>Scikit-Learn / XGBoost:</a:t>
            </a:r>
            <a:r>
              <a:rPr lang="en" sz="1100">
                <a:solidFill>
                  <a:schemeClr val="dk1"/>
                </a:solidFill>
              </a:rPr>
              <a:t> For the "Epidemic Prediction" model (correlating waste density data with water stagnation metrics).</a:t>
            </a:r>
            <a:endParaRPr sz="1100">
              <a:solidFill>
                <a:schemeClr val="dk1"/>
              </a:solidFill>
            </a:endParaRPr>
          </a:p>
          <a:p>
            <a:pPr indent="0" lvl="0" marL="0" rtl="0" algn="l">
              <a:lnSpc>
                <a:spcPct val="115000"/>
              </a:lnSpc>
              <a:spcBef>
                <a:spcPts val="1200"/>
              </a:spcBef>
              <a:spcAft>
                <a:spcPts val="0"/>
              </a:spcAft>
              <a:buClr>
                <a:schemeClr val="dk1"/>
              </a:buClr>
              <a:buSzPct val="100000"/>
              <a:buFont typeface="Arial"/>
              <a:buNone/>
            </a:pPr>
            <a:r>
              <a:rPr b="1" lang="en" sz="1100">
                <a:solidFill>
                  <a:schemeClr val="dk1"/>
                </a:solidFill>
              </a:rPr>
              <a:t>Cloud Infrastructure (AWS):</a:t>
            </a:r>
            <a:endParaRPr b="1" sz="1100">
              <a:solidFill>
                <a:schemeClr val="dk1"/>
              </a:solidFill>
            </a:endParaRPr>
          </a:p>
          <a:p>
            <a:pPr indent="-287972" lvl="0" marL="457200" rtl="0" algn="l">
              <a:lnSpc>
                <a:spcPct val="115000"/>
              </a:lnSpc>
              <a:spcBef>
                <a:spcPts val="1200"/>
              </a:spcBef>
              <a:spcAft>
                <a:spcPts val="0"/>
              </a:spcAft>
              <a:buClr>
                <a:schemeClr val="dk1"/>
              </a:buClr>
              <a:buSzPct val="100000"/>
              <a:buChar char="●"/>
            </a:pPr>
            <a:r>
              <a:rPr b="1" lang="en" sz="1100">
                <a:solidFill>
                  <a:schemeClr val="dk1"/>
                </a:solidFill>
              </a:rPr>
              <a:t>AWS Lambda:</a:t>
            </a:r>
            <a:r>
              <a:rPr lang="en" sz="1100">
                <a:solidFill>
                  <a:schemeClr val="dk1"/>
                </a:solidFill>
              </a:rPr>
              <a:t> Serverless compute for handling API requests.</a:t>
            </a:r>
            <a:endParaRPr sz="1100">
              <a:solidFill>
                <a:schemeClr val="dk1"/>
              </a:solidFill>
            </a:endParaRPr>
          </a:p>
          <a:p>
            <a:pPr indent="-287972" lvl="0" marL="457200" rtl="0" algn="l">
              <a:lnSpc>
                <a:spcPct val="115000"/>
              </a:lnSpc>
              <a:spcBef>
                <a:spcPts val="0"/>
              </a:spcBef>
              <a:spcAft>
                <a:spcPts val="0"/>
              </a:spcAft>
              <a:buClr>
                <a:schemeClr val="dk1"/>
              </a:buClr>
              <a:buSzPct val="100000"/>
              <a:buChar char="●"/>
            </a:pPr>
            <a:r>
              <a:rPr b="1" lang="en" sz="1100">
                <a:solidFill>
                  <a:schemeClr val="dk1"/>
                </a:solidFill>
              </a:rPr>
              <a:t>AWS S3:</a:t>
            </a:r>
            <a:r>
              <a:rPr lang="en" sz="1100">
                <a:solidFill>
                  <a:schemeClr val="dk1"/>
                </a:solidFill>
              </a:rPr>
              <a:t> Scalable storage for citizen reports and evidence photos.</a:t>
            </a:r>
            <a:endParaRPr sz="1100">
              <a:solidFill>
                <a:schemeClr val="dk1"/>
              </a:solidFill>
            </a:endParaRPr>
          </a:p>
          <a:p>
            <a:pPr indent="-287972" lvl="0" marL="457200" rtl="0" algn="l">
              <a:lnSpc>
                <a:spcPct val="115000"/>
              </a:lnSpc>
              <a:spcBef>
                <a:spcPts val="0"/>
              </a:spcBef>
              <a:spcAft>
                <a:spcPts val="0"/>
              </a:spcAft>
              <a:buClr>
                <a:schemeClr val="dk1"/>
              </a:buClr>
              <a:buSzPct val="100000"/>
              <a:buChar char="●"/>
            </a:pPr>
            <a:r>
              <a:rPr b="1" lang="en" sz="1100">
                <a:solidFill>
                  <a:schemeClr val="dk1"/>
                </a:solidFill>
              </a:rPr>
              <a:t>Amazon RDS:</a:t>
            </a:r>
            <a:r>
              <a:rPr lang="en" sz="1100">
                <a:solidFill>
                  <a:schemeClr val="dk1"/>
                </a:solidFill>
              </a:rPr>
              <a:t> Relational database for storing user profiles and ticket metadata.</a:t>
            </a:r>
            <a:endParaRPr sz="1100">
              <a:solidFill>
                <a:schemeClr val="dk1"/>
              </a:solidFill>
            </a:endParaRPr>
          </a:p>
          <a:p>
            <a:pPr indent="0" lvl="0" marL="0" marR="0" rtl="0" algn="l">
              <a:lnSpc>
                <a:spcPct val="115000"/>
              </a:lnSpc>
              <a:spcBef>
                <a:spcPts val="1200"/>
              </a:spcBef>
              <a:spcAft>
                <a:spcPts val="1200"/>
              </a:spcAft>
              <a:buClr>
                <a:srgbClr val="000000"/>
              </a:buClr>
              <a:buSzPct val="85000"/>
              <a:buFont typeface="Arial"/>
              <a:buNone/>
            </a:pPr>
            <a:r>
              <a:t/>
            </a:r>
            <a:endParaRPr b="1"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32"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45" name="Google Shape;145;p32"/>
          <p:cNvSpPr txBox="1"/>
          <p:nvPr/>
        </p:nvSpPr>
        <p:spPr>
          <a:xfrm>
            <a:off x="311700" y="863550"/>
            <a:ext cx="7531800" cy="36696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935"/>
              <a:buFont typeface="Arial"/>
              <a:buNone/>
            </a:pPr>
            <a:r>
              <a:rPr b="1" i="0" lang="en" sz="1700" u="none" cap="none" strike="noStrike">
                <a:solidFill>
                  <a:srgbClr val="202729"/>
                </a:solidFill>
                <a:latin typeface="Manrope"/>
                <a:ea typeface="Manrope"/>
                <a:cs typeface="Manrope"/>
                <a:sym typeface="Manrope"/>
              </a:rPr>
              <a:t>Technologies to be used in the solution:</a:t>
            </a:r>
            <a:endParaRPr b="1" i="0" sz="1700" u="none" cap="none" strike="noStrike">
              <a:solidFill>
                <a:srgbClr val="202729"/>
              </a:solidFill>
              <a:latin typeface="Manrope"/>
              <a:ea typeface="Manrope"/>
              <a:cs typeface="Manrope"/>
              <a:sym typeface="Manrope"/>
            </a:endParaRPr>
          </a:p>
          <a:p>
            <a:pPr indent="0" lvl="0" marL="0" marR="0" rtl="0" algn="l">
              <a:lnSpc>
                <a:spcPct val="115000"/>
              </a:lnSpc>
              <a:spcBef>
                <a:spcPts val="1200"/>
              </a:spcBef>
              <a:spcAft>
                <a:spcPts val="0"/>
              </a:spcAft>
              <a:buClr>
                <a:srgbClr val="000000"/>
              </a:buClr>
              <a:buSzPts val="935"/>
              <a:buFont typeface="Arial"/>
              <a:buNone/>
            </a:pPr>
            <a:r>
              <a:t/>
            </a:r>
            <a:endParaRPr b="1" sz="1700">
              <a:solidFill>
                <a:srgbClr val="202729"/>
              </a:solidFill>
              <a:latin typeface="Manrope"/>
              <a:ea typeface="Manrope"/>
              <a:cs typeface="Manrope"/>
              <a:sym typeface="Manrope"/>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Frontend:</a:t>
            </a:r>
            <a:r>
              <a:rPr lang="en" sz="1100">
                <a:solidFill>
                  <a:schemeClr val="dk1"/>
                </a:solidFill>
              </a:rPr>
              <a:t> Flutter (for offline-first capability).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AI/ML:</a:t>
            </a:r>
            <a:r>
              <a:rPr lang="en" sz="1100">
                <a:solidFill>
                  <a:schemeClr val="dk1"/>
                </a:solidFill>
              </a:rPr>
              <a:t> PyTorch/TensorFlow (Image Models), OpenAI Whisper (Voice).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Logistics:</a:t>
            </a:r>
            <a:r>
              <a:rPr lang="en" sz="1100">
                <a:solidFill>
                  <a:schemeClr val="dk1"/>
                </a:solidFill>
              </a:rPr>
              <a:t> </a:t>
            </a:r>
            <a:r>
              <a:rPr b="1" lang="en" sz="1100">
                <a:solidFill>
                  <a:schemeClr val="dk1"/>
                </a:solidFill>
              </a:rPr>
              <a:t>Google OR-Tools</a:t>
            </a:r>
            <a:r>
              <a:rPr lang="en" sz="1100">
                <a:solidFill>
                  <a:schemeClr val="dk1"/>
                </a:solidFill>
              </a:rPr>
              <a:t> (Optimization), Google Maps SDK (Navigation).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Cloud:</a:t>
            </a:r>
            <a:r>
              <a:rPr lang="en" sz="1100">
                <a:solidFill>
                  <a:schemeClr val="dk1"/>
                </a:solidFill>
              </a:rPr>
              <a:t> AWS S3 (Image Storage), AWS Lambda (Serverless Compute).</a:t>
            </a:r>
            <a:endParaRPr sz="1100">
              <a:solidFill>
                <a:schemeClr val="dk1"/>
              </a:solidFill>
            </a:endParaRPr>
          </a:p>
          <a:p>
            <a:pPr indent="0" lvl="0" marL="0" marR="0" rtl="0" algn="l">
              <a:lnSpc>
                <a:spcPct val="115000"/>
              </a:lnSpc>
              <a:spcBef>
                <a:spcPts val="1200"/>
              </a:spcBef>
              <a:spcAft>
                <a:spcPts val="1200"/>
              </a:spcAft>
              <a:buClr>
                <a:srgbClr val="000000"/>
              </a:buClr>
              <a:buSzPts val="935"/>
              <a:buFont typeface="Arial"/>
              <a:buNone/>
            </a:pPr>
            <a:r>
              <a:t/>
            </a:r>
            <a:endParaRPr b="1" sz="1700">
              <a:solidFill>
                <a:srgbClr val="202729"/>
              </a:solidFill>
              <a:latin typeface="Manrope"/>
              <a:ea typeface="Manrope"/>
              <a:cs typeface="Manrope"/>
              <a:sym typeface="Manrop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33"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51" name="Google Shape;151;p33"/>
          <p:cNvSpPr txBox="1"/>
          <p:nvPr/>
        </p:nvSpPr>
        <p:spPr>
          <a:xfrm>
            <a:off x="311700" y="863550"/>
            <a:ext cx="7531800" cy="36696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0"/>
              </a:spcAft>
              <a:buClr>
                <a:srgbClr val="000000"/>
              </a:buClr>
              <a:buSzPts val="935"/>
              <a:buFont typeface="Arial"/>
              <a:buNone/>
            </a:pPr>
            <a:r>
              <a:rPr b="1" i="0" lang="en" sz="1700" u="none" cap="none" strike="noStrike">
                <a:solidFill>
                  <a:srgbClr val="202729"/>
                </a:solidFill>
                <a:latin typeface="Manrope"/>
                <a:ea typeface="Manrope"/>
                <a:cs typeface="Manrope"/>
                <a:sym typeface="Manrope"/>
              </a:rPr>
              <a:t>Estimated implementation cost (optional):</a:t>
            </a:r>
            <a:endParaRPr b="1" i="0" sz="1700" u="none" cap="none" strike="noStrike">
              <a:solidFill>
                <a:srgbClr val="202729"/>
              </a:solidFill>
              <a:latin typeface="Manrope"/>
              <a:ea typeface="Manrope"/>
              <a:cs typeface="Manrope"/>
              <a:sym typeface="Manrope"/>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Implementation Cost:</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Zero Hardware Cost:</a:t>
            </a:r>
            <a:r>
              <a:rPr lang="en" sz="1100">
                <a:solidFill>
                  <a:schemeClr val="dk1"/>
                </a:solidFill>
              </a:rPr>
              <a:t> Uses existing driver smartphones.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Cloud Cost:</a:t>
            </a:r>
            <a:r>
              <a:rPr lang="en" sz="1100">
                <a:solidFill>
                  <a:schemeClr val="dk1"/>
                </a:solidFill>
              </a:rPr>
              <a:t> Pay-per-use (approx. ₹0.50 per resolved ticket).</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Return on Investment (ROI):</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Fuel Savings:</a:t>
            </a:r>
            <a:r>
              <a:rPr lang="en" sz="1100">
                <a:solidFill>
                  <a:schemeClr val="dk1"/>
                </a:solidFill>
              </a:rPr>
              <a:t> 30% reduction in municipal fuel costs via route optimization.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Labor Savings:</a:t>
            </a:r>
            <a:r>
              <a:rPr lang="en" sz="1100">
                <a:solidFill>
                  <a:schemeClr val="dk1"/>
                </a:solidFill>
              </a:rPr>
              <a:t> 40% reduction in time wasted visiting false alarms (spam).</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Social Impact:</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Disease Prevention:</a:t>
            </a:r>
            <a:r>
              <a:rPr lang="en" sz="1100">
                <a:solidFill>
                  <a:schemeClr val="dk1"/>
                </a:solidFill>
              </a:rPr>
              <a:t> Proactive removal of bio-hazards reduces vector-borne diseases.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Inclusion:</a:t>
            </a:r>
            <a:r>
              <a:rPr lang="en" sz="1100">
                <a:solidFill>
                  <a:schemeClr val="dk1"/>
                </a:solidFill>
              </a:rPr>
              <a:t> 100% accessible to the illiterate population.</a:t>
            </a:r>
            <a:endParaRPr sz="1100">
              <a:solidFill>
                <a:schemeClr val="dk1"/>
              </a:solidFill>
            </a:endParaRPr>
          </a:p>
          <a:p>
            <a:pPr indent="0" lvl="0" marL="0" marR="0" rtl="0" algn="l">
              <a:lnSpc>
                <a:spcPct val="115000"/>
              </a:lnSpc>
              <a:spcBef>
                <a:spcPts val="1200"/>
              </a:spcBef>
              <a:spcAft>
                <a:spcPts val="1200"/>
              </a:spcAft>
              <a:buClr>
                <a:srgbClr val="000000"/>
              </a:buClr>
              <a:buSzPts val="935"/>
              <a:buFont typeface="Arial"/>
              <a:buNone/>
            </a:pPr>
            <a:r>
              <a:t/>
            </a:r>
            <a:endParaRPr b="1" sz="1700">
              <a:solidFill>
                <a:srgbClr val="202729"/>
              </a:solidFill>
              <a:latin typeface="Manrope"/>
              <a:ea typeface="Manrope"/>
              <a:cs typeface="Manrope"/>
              <a:sym typeface="Manrop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34"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57" name="Google Shape;157;p34"/>
          <p:cNvSpPr txBox="1"/>
          <p:nvPr/>
        </p:nvSpPr>
        <p:spPr>
          <a:xfrm>
            <a:off x="311700" y="863550"/>
            <a:ext cx="7531800" cy="3669600"/>
          </a:xfrm>
          <a:prstGeom prst="rect">
            <a:avLst/>
          </a:prstGeom>
          <a:noFill/>
          <a:ln>
            <a:noFill/>
          </a:ln>
        </p:spPr>
        <p:txBody>
          <a:bodyPr anchorCtr="0" anchor="t" bIns="91425" lIns="91425" spcFirstLastPara="1" rIns="91425" wrap="square" tIns="91425">
            <a:normAutofit/>
          </a:bodyPr>
          <a:lstStyle/>
          <a:p>
            <a:pPr indent="0" lvl="0" marL="0" marR="0" rtl="0" algn="l">
              <a:lnSpc>
                <a:spcPct val="115000"/>
              </a:lnSpc>
              <a:spcBef>
                <a:spcPts val="0"/>
              </a:spcBef>
              <a:spcAft>
                <a:spcPts val="1200"/>
              </a:spcAft>
              <a:buClr>
                <a:srgbClr val="000000"/>
              </a:buClr>
              <a:buSzPts val="935"/>
              <a:buFont typeface="Arial"/>
              <a:buNone/>
            </a:pPr>
            <a:r>
              <a:rPr b="1" i="0" lang="en" sz="1700" u="none" cap="none" strike="noStrike">
                <a:solidFill>
                  <a:srgbClr val="202729"/>
                </a:solidFill>
                <a:latin typeface="Manrope"/>
                <a:ea typeface="Manrope"/>
                <a:cs typeface="Manrope"/>
                <a:sym typeface="Manrope"/>
              </a:rPr>
              <a:t>Add as per the requirements for the hackathon:</a:t>
            </a:r>
            <a:endParaRPr b="0" i="0" sz="1400" u="none" cap="none" strike="noStrike">
              <a:solidFill>
                <a:srgbClr val="434343"/>
              </a:solidFill>
              <a:latin typeface="Manrope"/>
              <a:ea typeface="Manrope"/>
              <a:cs typeface="Manrope"/>
              <a:sym typeface="Manrop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35" title="AI for Bharddat BANNER – 5.png"/>
          <p:cNvPicPr preferRelativeResize="0"/>
          <p:nvPr/>
        </p:nvPicPr>
        <p:blipFill rotWithShape="1">
          <a:blip r:embed="rId3">
            <a:alphaModFix/>
          </a:blip>
          <a:srcRect b="0" l="0" r="0" t="0"/>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